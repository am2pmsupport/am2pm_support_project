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This design (MongoDB Atlas)</c:v>
                </c:pt>
              </c:strCache>
            </c:strRef>
          </c:tx>
          <c:spPr>
            <a:solidFill>
              <a:srgbClr val="F96132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Pilot (≤20 agents)</c:v>
                  </c:pt>
                  <c:pt idx="1">
                    <c:v>Growth (~200)</c:v>
                  </c:pt>
                  <c:pt idx="2">
                    <c:v>Scale (~2,000)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</c:v>
                </c:pt>
                <c:pt idx="1">
                  <c:v>105</c:v>
                </c:pt>
                <c:pt idx="2">
                  <c:v>550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Neon Postgres option</c:v>
                </c:pt>
              </c:strCache>
            </c:strRef>
          </c:tx>
          <c:spPr>
            <a:solidFill>
              <a:srgbClr val="6BD3DC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Pilot (≤20 agents)</c:v>
                  </c:pt>
                  <c:pt idx="1">
                    <c:v>Growth (~200)</c:v>
                  </c:pt>
                  <c:pt idx="2">
                    <c:v>Scale (~2,000)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20</c:v>
                </c:pt>
                <c:pt idx="1">
                  <c:v>70</c:v>
                </c:pt>
                <c:pt idx="2">
                  <c:v>350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A7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8EB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A7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96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AM2PM SUPPORT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Center CRM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488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B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database relationships and build plan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3108960"/>
            <a:ext cx="1463040" cy="411480"/>
          </a:xfrm>
          <a:prstGeom prst="roundRect">
            <a:avLst>
              <a:gd name="adj" fmla="val 44444"/>
            </a:avLst>
          </a:prstGeom>
          <a:solidFill>
            <a:srgbClr val="15363D"/>
          </a:solidFill>
          <a:ln w="12700">
            <a:solidFill>
              <a:srgbClr val="6BD3D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1089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148840" y="3108960"/>
            <a:ext cx="1463040" cy="411480"/>
          </a:xfrm>
          <a:prstGeom prst="roundRect">
            <a:avLst>
              <a:gd name="adj" fmla="val 44444"/>
            </a:avLst>
          </a:prstGeom>
          <a:solidFill>
            <a:srgbClr val="15363D"/>
          </a:solidFill>
          <a:ln w="12700">
            <a:solidFill>
              <a:srgbClr val="6BD3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48840" y="31089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749040" y="3108960"/>
            <a:ext cx="1463040" cy="411480"/>
          </a:xfrm>
          <a:prstGeom prst="roundRect">
            <a:avLst>
              <a:gd name="adj" fmla="val 44444"/>
            </a:avLst>
          </a:prstGeom>
          <a:solidFill>
            <a:srgbClr val="15363D"/>
          </a:solidFill>
          <a:ln w="12700">
            <a:solidFill>
              <a:srgbClr val="6BD3D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49040" y="31089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Upstash QStash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49240" y="3108960"/>
            <a:ext cx="1463040" cy="411480"/>
          </a:xfrm>
          <a:prstGeom prst="roundRect">
            <a:avLst>
              <a:gd name="adj" fmla="val 44444"/>
            </a:avLst>
          </a:prstGeom>
          <a:solidFill>
            <a:srgbClr val="15363D"/>
          </a:solidFill>
          <a:ln w="12700">
            <a:solidFill>
              <a:srgbClr val="6BD3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349240" y="31089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Upstash Redis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49440" y="3108960"/>
            <a:ext cx="1463040" cy="411480"/>
          </a:xfrm>
          <a:prstGeom prst="roundRect">
            <a:avLst>
              <a:gd name="adj" fmla="val 44444"/>
            </a:avLst>
          </a:prstGeom>
          <a:solidFill>
            <a:srgbClr val="15363D"/>
          </a:solidFill>
          <a:ln w="12700">
            <a:solidFill>
              <a:srgbClr val="6BD3D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49440" y="31089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/ R2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297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1.0 · 1 October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Serverless CRM for ~$105/month at 200 agents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589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+ MongoDB Atlas + Upstash; no servers, Kubernetes or ops staff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AM2PM Call Center CRM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EEF8F9"/>
          </a:solidFill>
          <a:ln w="12700">
            <a:solidFill>
              <a:srgbClr val="EEF8F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37160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96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$28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0574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 in pilot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3317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client, ≤20 agents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28016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15363D"/>
          </a:solidFill>
          <a:ln w="12700">
            <a:solidFill>
              <a:srgbClr val="1536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46120" y="137160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BD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$105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3246120" y="20574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 at growth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246120" y="23317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~200 agents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28016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EEF8F9"/>
          </a:solidFill>
          <a:ln w="12700">
            <a:solidFill>
              <a:srgbClr val="EEF8F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035040" y="137160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96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$550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20574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 at scale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035040" y="23317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~2,000 agents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926080"/>
            <a:ext cx="2606040" cy="1645920"/>
          </a:xfrm>
          <a:prstGeom prst="roundRect">
            <a:avLst>
              <a:gd name="adj" fmla="val 4444"/>
            </a:avLst>
          </a:prstGeom>
          <a:solidFill>
            <a:srgbClr val="EEF8F9"/>
          </a:solidFill>
          <a:ln w="12700">
            <a:solidFill>
              <a:srgbClr val="EEF8F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4360" y="30175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96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Auto-import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" y="3355848"/>
            <a:ext cx="2331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source pushes a webhook or is pulled every 15 minutes. Nobody clicks "Sync".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46120" y="2926080"/>
            <a:ext cx="2606040" cy="1645920"/>
          </a:xfrm>
          <a:prstGeom prst="roundRect">
            <a:avLst>
              <a:gd name="adj" fmla="val 4444"/>
            </a:avLst>
          </a:prstGeom>
          <a:solidFill>
            <a:srgbClr val="EEF8F9"/>
          </a:solidFill>
          <a:ln w="12700">
            <a:solidFill>
              <a:srgbClr val="EEF8F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383280" y="30175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96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Auto-assignment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3383280" y="3355848"/>
            <a:ext cx="2331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Deduped and handed to an eligible agent within seconds, atomically.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35040" y="2926080"/>
            <a:ext cx="2606040" cy="1645920"/>
          </a:xfrm>
          <a:prstGeom prst="roundRect">
            <a:avLst>
              <a:gd name="adj" fmla="val 4444"/>
            </a:avLst>
          </a:prstGeom>
          <a:solidFill>
            <a:srgbClr val="EEF8F9"/>
          </a:solidFill>
          <a:ln w="12700">
            <a:solidFill>
              <a:srgbClr val="EEF8F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172200" y="30175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96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Outbound webhooks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172200" y="3355848"/>
            <a:ext cx="2331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lead.converted and 7 more events, HMAC-signed, retried for 24 hours.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keep from each existing design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589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crmv7 logic + MongoDB doc structure + low-cost PDF runtime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AM2PM Call Center CRM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691640"/>
                <a:gridCol w="1691640"/>
                <a:gridCol w="1600200"/>
                <a:gridCol w="17830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6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crmv7.gs (Sheets)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6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MongoDB doc v1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6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Low-cost PDF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6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design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63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Apps Script, 6-min runs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NestJS + BullMQ on K8s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Vercel + QStash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Vercel + QStash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Sheet tabs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Replica set → sharded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Neon Postgres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MongoDB Atlas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import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sync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+ dedupeKey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Auto, 7 sources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Auto, 7 sources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Equal/%/Ratio/Number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RR / skill / load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of both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All, interleaved, atomic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Outbound webhooks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Workflow 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Signed, retried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Signed, retried, outbox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Tenant isolation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Sheet per client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tenantId layer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Row-Level Security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tenantId layer + tests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at 200 agents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~$0, breaks at scale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~$400+ + ops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~$70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serverless stack, billed per use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589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replaces something that was expensive or fragile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AM2PM Call Center CRM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606040" cy="1024128"/>
          </a:xfrm>
          <a:prstGeom prst="roundRect">
            <a:avLst>
              <a:gd name="adj" fmla="val 7143"/>
            </a:avLst>
          </a:prstGeom>
          <a:solidFill>
            <a:srgbClr val="EEF8F9"/>
          </a:solidFill>
          <a:ln w="12700">
            <a:solidFill>
              <a:srgbClr val="EEF8F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3258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96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+ API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664208"/>
            <a:ext cx="23317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on Vercel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screen, admin, client portal, public API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234440"/>
            <a:ext cx="2606040" cy="1024128"/>
          </a:xfrm>
          <a:prstGeom prst="roundRect">
            <a:avLst>
              <a:gd name="adj" fmla="val 7143"/>
            </a:avLst>
          </a:prstGeom>
          <a:solidFill>
            <a:srgbClr val="EEF8F9"/>
          </a:solidFill>
          <a:ln w="12700">
            <a:solidFill>
              <a:srgbClr val="EEF8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83280" y="13258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96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1664208"/>
            <a:ext cx="23317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(Mumbai)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Vercel Marketplace; one bill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1234440"/>
            <a:ext cx="2606040" cy="1024128"/>
          </a:xfrm>
          <a:prstGeom prst="roundRect">
            <a:avLst>
              <a:gd name="adj" fmla="val 7143"/>
            </a:avLst>
          </a:prstGeom>
          <a:solidFill>
            <a:srgbClr val="EEF8F9"/>
          </a:solidFill>
          <a:ln w="12700">
            <a:solidFill>
              <a:srgbClr val="EEF8F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72200" y="13258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96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172200" y="1664208"/>
            <a:ext cx="23317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Upstash QStash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Retries, DLQ, cron fan-out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395728"/>
            <a:ext cx="2606040" cy="1024128"/>
          </a:xfrm>
          <a:prstGeom prst="roundRect">
            <a:avLst>
              <a:gd name="adj" fmla="val 7143"/>
            </a:avLst>
          </a:prstGeom>
          <a:solidFill>
            <a:srgbClr val="EEF8F9"/>
          </a:solidFill>
          <a:ln w="12700">
            <a:solidFill>
              <a:srgbClr val="EEF8F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248716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96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STATE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2825496"/>
            <a:ext cx="23317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Upstash Redis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Presence, cursors, rate limits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46120" y="2395728"/>
            <a:ext cx="2606040" cy="1024128"/>
          </a:xfrm>
          <a:prstGeom prst="roundRect">
            <a:avLst>
              <a:gd name="adj" fmla="val 7143"/>
            </a:avLst>
          </a:prstGeom>
          <a:solidFill>
            <a:srgbClr val="EEF8F9"/>
          </a:solidFill>
          <a:ln w="12700">
            <a:solidFill>
              <a:srgbClr val="EEF8F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383280" y="248716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96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JOBS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3383280" y="2825496"/>
            <a:ext cx="23317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Cron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Reminders, sweeper, rollups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35040" y="2395728"/>
            <a:ext cx="2606040" cy="1024128"/>
          </a:xfrm>
          <a:prstGeom prst="roundRect">
            <a:avLst>
              <a:gd name="adj" fmla="val 7143"/>
            </a:avLst>
          </a:prstGeom>
          <a:solidFill>
            <a:srgbClr val="EEF8F9"/>
          </a:solidFill>
          <a:ln w="12700">
            <a:solidFill>
              <a:srgbClr val="EEF8F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172200" y="248716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96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172200" y="2825496"/>
            <a:ext cx="23317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Blob / R2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Recordings, CSVs, signed URLs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557016"/>
            <a:ext cx="2606040" cy="1024128"/>
          </a:xfrm>
          <a:prstGeom prst="roundRect">
            <a:avLst>
              <a:gd name="adj" fmla="val 7143"/>
            </a:avLst>
          </a:prstGeom>
          <a:solidFill>
            <a:srgbClr val="EEF8F9"/>
          </a:solidFill>
          <a:ln w="12700">
            <a:solidFill>
              <a:srgbClr val="EEF8F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4360" y="3648456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96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594360" y="3986784"/>
            <a:ext cx="23317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Auth.js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+ OTP, optional TOTP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46120" y="3557016"/>
            <a:ext cx="2606040" cy="1024128"/>
          </a:xfrm>
          <a:prstGeom prst="roundRect">
            <a:avLst>
              <a:gd name="adj" fmla="val 7143"/>
            </a:avLst>
          </a:prstGeom>
          <a:solidFill>
            <a:srgbClr val="EEF8F9"/>
          </a:solidFill>
          <a:ln w="12700">
            <a:solidFill>
              <a:srgbClr val="EEF8F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383280" y="3648456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96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TELEPHONY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3383280" y="3986784"/>
            <a:ext cx="23317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CallerDesk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Click-to-call, recordings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035040" y="3557016"/>
            <a:ext cx="2606040" cy="1024128"/>
          </a:xfrm>
          <a:prstGeom prst="roundRect">
            <a:avLst>
              <a:gd name="adj" fmla="val 7143"/>
            </a:avLst>
          </a:prstGeom>
          <a:solidFill>
            <a:srgbClr val="EEF8F9"/>
          </a:solidFill>
          <a:ln w="12700">
            <a:solidFill>
              <a:srgbClr val="EEF8F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172200" y="3648456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96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MESSAGING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6172200" y="3986784"/>
            <a:ext cx="23317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Interakt · Brevo · Resend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WhatsApp, campaigns, email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costs ~1.5× Neon at every stage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589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USD by stage, provider charges (minutes, WhatsApp, email) excluded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AM2PM Call Center CRM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188720"/>
          <a:ext cx="51206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852160" y="1234440"/>
            <a:ext cx="2834640" cy="1600200"/>
          </a:xfrm>
          <a:prstGeom prst="roundRect">
            <a:avLst>
              <a:gd name="adj" fmla="val 4571"/>
            </a:avLst>
          </a:prstGeom>
          <a:solidFill>
            <a:srgbClr val="EEF8F9"/>
          </a:solidFill>
          <a:ln w="12700">
            <a:solidFill>
              <a:srgbClr val="EEF8F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89320" y="1325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53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tier by stage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989320" y="1664208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Pilot: Flex $8 (5 GB)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Growth: M10 ~$57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Scale: M30 ~$388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852160" y="2971800"/>
            <a:ext cx="2834640" cy="1691640"/>
          </a:xfrm>
          <a:prstGeom prst="roundRect">
            <a:avLst>
              <a:gd name="adj" fmla="val 4324"/>
            </a:avLst>
          </a:prstGeom>
          <a:solidFill>
            <a:srgbClr val="EEF8F9"/>
          </a:solidFill>
          <a:ln w="12700">
            <a:solidFill>
              <a:srgbClr val="EEF8F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89320" y="30632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53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rules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989320" y="3401568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Recordings in Blob/R2, never in MongoDB. TTL on raw webhooks (60 d). Dashboards read daily_stats only. M10 before first paying client.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Architecture: every event is queued before work runs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AM2PM Call Center CRM</a:t>
            </a:r>
            <a:endParaRPr lang="en-US" sz="900" dirty="0"/>
          </a:p>
        </p:txBody>
      </p:sp>
      <p:pic>
        <p:nvPicPr>
          <p:cNvPr id="4" name="Image 0" descr="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0322" y="868680"/>
            <a:ext cx="5983357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database, many clients: isolation by design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589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has no row-level security, so the app layer enforces it and tests prove it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AM2PM Call Center CRM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77640" cy="3383280"/>
          </a:xfrm>
          <a:prstGeom prst="roundRect">
            <a:avLst>
              <a:gd name="adj" fmla="val 2162"/>
            </a:avLst>
          </a:prstGeom>
          <a:solidFill>
            <a:srgbClr val="EEF8F9"/>
          </a:solidFill>
          <a:ln w="12700">
            <a:solidFill>
              <a:srgbClr val="EEF8F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32588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53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Tenancy model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664208"/>
            <a:ext cx="370332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691640"/>
            <a:ext cx="37033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shared collections, tenantId on every document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or regulated client: own database, same code (isolation: "dedicated")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per tenant: avoid, too expensive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region Mumbai for DPDP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234440"/>
            <a:ext cx="3977640" cy="3383280"/>
          </a:xfrm>
          <a:prstGeom prst="roundRect">
            <a:avLst>
              <a:gd name="adj" fmla="val 2162"/>
            </a:avLst>
          </a:prstGeom>
          <a:solidFill>
            <a:srgbClr val="15363D"/>
          </a:solidFill>
          <a:ln w="12700">
            <a:solidFill>
              <a:srgbClr val="1536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32588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D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that enforce safety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664208"/>
            <a:ext cx="370332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691640"/>
            <a:ext cx="37033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$jsonSchema rejects documents without tenantId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index starts with tenantId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db(ctx) injects tenantId into every query and $match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 rule blocks raw collection access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Cross-tenant test on every API route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 queries audit-logged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relationships: lead → process, contact, owner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AM2PM Call Center CRM</a:t>
            </a:r>
            <a:endParaRPr lang="en-US" sz="900" dirty="0"/>
          </a:p>
        </p:txBody>
      </p:sp>
      <p:pic>
        <p:nvPicPr>
          <p:cNvPr id="4" name="Image 0" descr="er_c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584" y="868680"/>
            <a:ext cx="7164832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relationships: outbox → webhooks and workflows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AM2PM Call Center CRM</a:t>
            </a:r>
            <a:endParaRPr lang="en-US" sz="900" dirty="0"/>
          </a:p>
        </p:txBody>
      </p:sp>
      <p:pic>
        <p:nvPicPr>
          <p:cNvPr id="4" name="Image 0" descr="er_ev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9165" y="868680"/>
            <a:ext cx="7465671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collections in four groups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589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live on the child; unbounded lists are never embedded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AM2PM Call Center CRM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EEF8F9"/>
          </a:solidFill>
          <a:ln w="12700">
            <a:solidFill>
              <a:srgbClr val="EEF8F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2801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96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61848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tenants · users · teams · processes · integrations · custom_field_definitions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EEF8F9"/>
          </a:solidFill>
          <a:ln w="12700">
            <a:solidFill>
              <a:srgbClr val="EEF8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00600" y="12801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96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800600" y="161848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contacts · leads · lead_events · import_sources · import_batches · assignment_state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EEF8F9"/>
          </a:solidFill>
          <a:ln w="12700">
            <a:solidFill>
              <a:srgbClr val="EEF8F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2286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96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262432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interactions (calls, WhatsApp, email, notes) · dispositions · callbacks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63440" y="219456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EEF8F9"/>
          </a:solidFill>
          <a:ln w="12700">
            <a:solidFill>
              <a:srgbClr val="EEF8F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00600" y="2286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96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 &amp; reports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800600" y="262432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webhook_events · outbox · webhook_subscriptions · webhook_deliveries · workflows · workflow_runs · daily_stats · audit_logs · backup_policies · backup_snapshots · restore_jobs</a:t>
            </a:r>
            <a:endParaRPr lang="en-US" sz="11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310128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6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63D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 bounded children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contacts.phones[], processes.stages[]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unbounded ones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interactions.leadId, lead_events.leadId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Snapshot small values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interactions.agent {id, name}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M:N as array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users.processIds[], users.teamIds[]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pipeline: deduped and auto-assigned, no clicks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AM2PM Call Center CRM</a:t>
            </a:r>
            <a:endParaRPr lang="en-US" sz="900" dirty="0"/>
          </a:p>
        </p:txBody>
      </p:sp>
      <p:pic>
        <p:nvPicPr>
          <p:cNvPr id="4" name="Image 0" descr="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616" y="868680"/>
            <a:ext cx="7438768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lead sources, one dedupe rule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589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where the source supports it, pull every 15 minutes where it does not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AM2PM Call Center CRM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484632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9260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6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it arrives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63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Website / landing forms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/api/hooks/{tenant}/{sourceId}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 Lead Ads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leadgen webhook + Graph API fetch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Ads lead forms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Lead-form webhook, shared key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IndiaMART, Justdial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Push, else 15-min pull with cursor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 / Excel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Blob upload, 500-row QStash batches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Sheet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15-min pull (migration bridge)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API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/api/v1/leads with API key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532120" y="1234440"/>
            <a:ext cx="3154680" cy="3383280"/>
          </a:xfrm>
          <a:prstGeom prst="roundRect">
            <a:avLst>
              <a:gd name="adj" fmla="val 2319"/>
            </a:avLst>
          </a:prstGeom>
          <a:solidFill>
            <a:srgbClr val="EEF8F9"/>
          </a:solidFill>
          <a:ln w="12700">
            <a:solidFill>
              <a:srgbClr val="EEF8F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669280" y="13258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53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Dedupe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669280" y="1664208"/>
            <a:ext cx="28803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dedupeKey = process + last 10 digits of phone (crmv7 rule), or email / any field per process.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partial index where isActive = true: racing imports still create one lead; the loser (error 11000) becomes a merge.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adds the source to lead_events and alerts the owner.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Auto-assignment: six methods, one atomic transaction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AM2PM Call Center CRM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325880" cy="987552"/>
          </a:xfrm>
          <a:prstGeom prst="roundRect">
            <a:avLst>
              <a:gd name="adj" fmla="val 7407"/>
            </a:avLst>
          </a:prstGeom>
          <a:solidFill>
            <a:srgbClr val="EEF8F9"/>
          </a:solidFill>
          <a:ln w="12700">
            <a:solidFill>
              <a:srgbClr val="EEF8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09728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96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435608"/>
            <a:ext cx="1051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eligible agent in turn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74520" y="1005840"/>
            <a:ext cx="1325880" cy="987552"/>
          </a:xfrm>
          <a:prstGeom prst="roundRect">
            <a:avLst>
              <a:gd name="adj" fmla="val 7407"/>
            </a:avLst>
          </a:prstGeom>
          <a:solidFill>
            <a:srgbClr val="EEF8F9"/>
          </a:solidFill>
          <a:ln w="12700">
            <a:solidFill>
              <a:srgbClr val="EEF8F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011680" y="109728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96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Percentage / Ratio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11680" y="1435608"/>
            <a:ext cx="1051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weighted RR, interleaved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005840"/>
            <a:ext cx="1325880" cy="987552"/>
          </a:xfrm>
          <a:prstGeom prst="roundRect">
            <a:avLst>
              <a:gd name="adj" fmla="val 7407"/>
            </a:avLst>
          </a:prstGeom>
          <a:solidFill>
            <a:srgbClr val="EEF8F9"/>
          </a:solidFill>
          <a:ln w="12700">
            <a:solidFill>
              <a:srgbClr val="EEF8F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109728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96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1435608"/>
            <a:ext cx="1051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quota per agent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103120"/>
            <a:ext cx="1325880" cy="987552"/>
          </a:xfrm>
          <a:prstGeom prst="roundRect">
            <a:avLst>
              <a:gd name="adj" fmla="val 7407"/>
            </a:avLst>
          </a:prstGeom>
          <a:solidFill>
            <a:srgbClr val="EEF8F9"/>
          </a:solidFill>
          <a:ln w="12700">
            <a:solidFill>
              <a:srgbClr val="EEF8F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219456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96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Load-based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2532888"/>
            <a:ext cx="1051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Fewest open leads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74520" y="2103120"/>
            <a:ext cx="1325880" cy="987552"/>
          </a:xfrm>
          <a:prstGeom prst="roundRect">
            <a:avLst>
              <a:gd name="adj" fmla="val 7407"/>
            </a:avLst>
          </a:prstGeom>
          <a:solidFill>
            <a:srgbClr val="EEF8F9"/>
          </a:solidFill>
          <a:ln w="12700">
            <a:solidFill>
              <a:srgbClr val="EEF8F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011680" y="219456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96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/ city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2011680" y="2532888"/>
            <a:ext cx="1051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must match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91840" y="2103120"/>
            <a:ext cx="1325880" cy="987552"/>
          </a:xfrm>
          <a:prstGeom prst="roundRect">
            <a:avLst>
              <a:gd name="adj" fmla="val 7407"/>
            </a:avLst>
          </a:prstGeom>
          <a:solidFill>
            <a:srgbClr val="EEF8F9"/>
          </a:solidFill>
          <a:ln w="12700">
            <a:solidFill>
              <a:srgbClr val="EEF8F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429000" y="219456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96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Sticky owner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429000" y="2532888"/>
            <a:ext cx="1051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 contact, same agent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329184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Eligible = active → mapped to process → available → in working hours → under capacity → under quota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1005840"/>
            <a:ext cx="3840480" cy="3611880"/>
          </a:xfrm>
          <a:prstGeom prst="roundRect">
            <a:avLst>
              <a:gd name="adj" fmla="val 2025"/>
            </a:avLst>
          </a:prstGeom>
          <a:solidFill>
            <a:srgbClr val="15363D"/>
          </a:solidFill>
          <a:ln w="12700">
            <a:solidFill>
              <a:srgbClr val="15363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983480" y="1097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D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atomic pick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983480" y="1435608"/>
            <a:ext cx="3566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983480" y="146304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findOneAndUpdate the agent where openLeads &lt; max, $inc openLeads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assignment_state with a version check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leads.assignedTo only if still unassigned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lead_events + outbox (lead.assigned)</a:t>
            </a:r>
            <a:endParaRPr lang="en-US" sz="12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 one transaction; retry next agent up to 3 times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983480" y="37490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8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eligible → 5-min sweeper retries, SLA alert. Untouched N hours → recycled.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Outbound webhooks: signed, retried, never lost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589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are written to an outbox in the same transaction as the change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AM2PM Call Center CRM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46634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9260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6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Fires when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63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lead.created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import or manual create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lead.assigned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 or manual assignment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disposition.set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saves a call outcome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lead.stage_changed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moves (Warm → Hot)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lead.converted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Converted disposition or won stage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lead.lost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 / DNC closes the lead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callback.missed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Due + 15 min, no call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call.completed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CallerDesk call report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349240" y="1234440"/>
            <a:ext cx="3337560" cy="3383280"/>
          </a:xfrm>
          <a:prstGeom prst="roundRect">
            <a:avLst>
              <a:gd name="adj" fmla="val 2192"/>
            </a:avLst>
          </a:prstGeom>
          <a:solidFill>
            <a:srgbClr val="EEF8F9"/>
          </a:solidFill>
          <a:ln w="12700">
            <a:solidFill>
              <a:srgbClr val="EEF8F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0" y="13258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53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rules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486400" y="1664208"/>
            <a:ext cx="30632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X-AM2PM-Signature: t=…, v1=HMAC-SHA256(secret, t.body); reject if older than 5 min.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 ~1m, 5m, 30m, 2h, 12h; every attempt in webhook_deliveries.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h of failures → auto-pause + email admin.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event id so receivers dedupe.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when a lead converts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589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transaction, then fan-out through the queue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AM2PM Call Center CRM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60120" y="1371600"/>
            <a:ext cx="548640" cy="548640"/>
          </a:xfrm>
          <a:prstGeom prst="ellipse">
            <a:avLst/>
          </a:prstGeom>
          <a:solidFill>
            <a:srgbClr val="1536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554480" y="1645920"/>
            <a:ext cx="1133856" cy="0"/>
          </a:xfrm>
          <a:prstGeom prst="line">
            <a:avLst/>
          </a:prstGeom>
          <a:noFill/>
          <a:ln w="19050">
            <a:solidFill>
              <a:srgbClr val="C9D3D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57200" y="2148840"/>
            <a:ext cx="1554480" cy="2103120"/>
          </a:xfrm>
          <a:prstGeom prst="roundRect">
            <a:avLst>
              <a:gd name="adj" fmla="val 4706"/>
            </a:avLst>
          </a:prstGeom>
          <a:solidFill>
            <a:srgbClr val="EEF8F9"/>
          </a:solidFill>
          <a:ln w="12700">
            <a:solidFill>
              <a:srgbClr val="EEF8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22402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53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saves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2578608"/>
            <a:ext cx="1280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disposition = converted or stage = won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42616" y="1371600"/>
            <a:ext cx="548640" cy="548640"/>
          </a:xfrm>
          <a:prstGeom prst="ellipse">
            <a:avLst/>
          </a:prstGeom>
          <a:solidFill>
            <a:srgbClr val="F961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42616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236976" y="1645920"/>
            <a:ext cx="1133856" cy="0"/>
          </a:xfrm>
          <a:prstGeom prst="line">
            <a:avLst/>
          </a:prstGeom>
          <a:noFill/>
          <a:ln w="19050">
            <a:solidFill>
              <a:srgbClr val="C9D3D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139696" y="2148840"/>
            <a:ext cx="1554480" cy="2103120"/>
          </a:xfrm>
          <a:prstGeom prst="roundRect">
            <a:avLst>
              <a:gd name="adj" fmla="val 4706"/>
            </a:avLst>
          </a:prstGeom>
          <a:solidFill>
            <a:srgbClr val="EEF8F9"/>
          </a:solidFill>
          <a:ln w="12700">
            <a:solidFill>
              <a:srgbClr val="EEF8F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276856" y="22402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53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276856" y="2578608"/>
            <a:ext cx="1280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won, convertedAt, openLeads − 1, lead_events, outbox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25112" y="1371600"/>
            <a:ext cx="548640" cy="548640"/>
          </a:xfrm>
          <a:prstGeom prst="ellipse">
            <a:avLst/>
          </a:prstGeom>
          <a:solidFill>
            <a:srgbClr val="1536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325112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919472" y="1645920"/>
            <a:ext cx="1133856" cy="0"/>
          </a:xfrm>
          <a:prstGeom prst="line">
            <a:avLst/>
          </a:prstGeom>
          <a:noFill/>
          <a:ln w="19050">
            <a:solidFill>
              <a:srgbClr val="C9D3D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822192" y="2148840"/>
            <a:ext cx="1554480" cy="2103120"/>
          </a:xfrm>
          <a:prstGeom prst="roundRect">
            <a:avLst>
              <a:gd name="adj" fmla="val 4706"/>
            </a:avLst>
          </a:prstGeom>
          <a:solidFill>
            <a:srgbClr val="EEF8F9"/>
          </a:solidFill>
          <a:ln w="12700">
            <a:solidFill>
              <a:srgbClr val="EEF8F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959352" y="22402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53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Relay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3959352" y="2578608"/>
            <a:ext cx="1280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outbox → QStash right after commit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07608" y="1371600"/>
            <a:ext cx="548640" cy="548640"/>
          </a:xfrm>
          <a:prstGeom prst="ellipse">
            <a:avLst/>
          </a:prstGeom>
          <a:solidFill>
            <a:srgbClr val="1536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007608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601968" y="1645920"/>
            <a:ext cx="1133856" cy="0"/>
          </a:xfrm>
          <a:prstGeom prst="line">
            <a:avLst/>
          </a:prstGeom>
          <a:noFill/>
          <a:ln w="19050">
            <a:solidFill>
              <a:srgbClr val="C9D3D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504688" y="2148840"/>
            <a:ext cx="1554480" cy="2103120"/>
          </a:xfrm>
          <a:prstGeom prst="roundRect">
            <a:avLst>
              <a:gd name="adj" fmla="val 4706"/>
            </a:avLst>
          </a:prstGeom>
          <a:solidFill>
            <a:srgbClr val="EEF8F9"/>
          </a:solidFill>
          <a:ln w="12700">
            <a:solidFill>
              <a:srgbClr val="EEF8F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641848" y="22402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53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Webhooks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641848" y="2578608"/>
            <a:ext cx="1280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POST to ERP, billing, ad platforms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690104" y="1371600"/>
            <a:ext cx="548640" cy="548640"/>
          </a:xfrm>
          <a:prstGeom prst="ellipse">
            <a:avLst/>
          </a:prstGeom>
          <a:solidFill>
            <a:srgbClr val="1536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690104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7187184" y="2148840"/>
            <a:ext cx="1554480" cy="2103120"/>
          </a:xfrm>
          <a:prstGeom prst="roundRect">
            <a:avLst>
              <a:gd name="adj" fmla="val 4706"/>
            </a:avLst>
          </a:prstGeom>
          <a:solidFill>
            <a:srgbClr val="EEF8F9"/>
          </a:solidFill>
          <a:ln w="12700">
            <a:solidFill>
              <a:srgbClr val="EEF8F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324344" y="22402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53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Workflows + stats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324344" y="2578608"/>
            <a:ext cx="1280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thank-you WhatsApp, tasks; nightly daily_stats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Apps Script trigger becomes a Vercel Cron job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AM2PM Call Center CRM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188720"/>
                <a:gridCol w="2194560"/>
                <a:gridCol w="31089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6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6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Replaces in crmv7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6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63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Callback reminders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5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processCallbackReminders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Notify 15 min before; escalate after 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Assignment sweeper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5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runControlAutoAssign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 leads left unassigned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Outbox relay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1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 unpublished events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Stale-lead recycle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rptStaleLeads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Reassign untouched leads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Scheduled imports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15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syncMarketingToCalling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Pull Sheet / IndiaMART / Justdial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rollup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00:30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 builders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$merge into daily_stats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 digest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09:00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runNotifications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 leads, follow-ups due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weekly report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 08:00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sendAllUserReports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Per-agent summary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Security, access and DPDP compliance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AM2PM Call Center CRM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47548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777240"/>
                <a:gridCol w="777240"/>
                <a:gridCol w="914400"/>
                <a:gridCol w="8229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6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6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6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6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63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VCEDX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VCEAX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 (process)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 (own)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Interactions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 (masked)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VC (own)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Callbacks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VCEDX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VCEA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VCE (own)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Webhooks / workflows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VCED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 (assigned)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Backups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VCX + restore req.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 + download*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8404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view · C create · E edit · D delete · A approve · X export. * download only if the client contract allows. 8 roles; scopes own, team, process, tenant, global.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40680" y="1005840"/>
            <a:ext cx="3246120" cy="3611880"/>
          </a:xfrm>
          <a:prstGeom prst="roundRect">
            <a:avLst>
              <a:gd name="adj" fmla="val 2254"/>
            </a:avLst>
          </a:prstGeom>
          <a:solidFill>
            <a:srgbClr val="EEF8F9"/>
          </a:solidFill>
          <a:ln w="12700">
            <a:solidFill>
              <a:srgbClr val="EEF8F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577840" y="109728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53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577840" y="1435608"/>
            <a:ext cx="2971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577840" y="1417320"/>
            <a:ext cx="30175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keys AES-256-GCM encrypted, never returned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+ OTP login, optional TOTP and IP allowlist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masking by role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Recordings via short-lived signed URLs; plays audit-logged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per channel; DNC blocks outreach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Erasure job + per-tenant retention (DPDP)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limits on /api/hooks/*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Per-client backup: every client restorable on its own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AM2PM Call Center CRM</a:t>
            </a:r>
            <a:endParaRPr lang="en-US" sz="900" dirty="0"/>
          </a:p>
        </p:txBody>
      </p:sp>
      <p:pic>
        <p:nvPicPr>
          <p:cNvPr id="4" name="Image 0" descr="back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096" y="868680"/>
            <a:ext cx="7977809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Backups page for each client admin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589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Two-person rule on restores; every download and restore is audit-logged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AM2PM Call Center CRM</a:t>
            </a:r>
            <a:endParaRPr lang="en-US" sz="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48463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828800"/>
                <a:gridCol w="16459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6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6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 rail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63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 snapshots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Admin, Manager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 tenant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Backup now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Admin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once a day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Download backup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Admin (if contract allows)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Fresh 2FA, 15-min signed URL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 CSV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Admin, Manager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 masking by role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 restore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Admin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Snapshot, mode, reason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 restore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AM2PM Super Admin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differ from requester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532120" y="1234440"/>
            <a:ext cx="3154680" cy="896112"/>
          </a:xfrm>
          <a:prstGeom prst="roundRect">
            <a:avLst>
              <a:gd name="adj" fmla="val 8163"/>
            </a:avLst>
          </a:prstGeom>
          <a:solidFill>
            <a:srgbClr val="EEF8F9"/>
          </a:solidFill>
          <a:ln w="12700">
            <a:solidFill>
              <a:srgbClr val="EEF8F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669280" y="13258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96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 restore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669280" y="1664208"/>
            <a:ext cx="2880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snapshot into a read-only copy tenant to inspect; deleted after 7 days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532120" y="2221992"/>
            <a:ext cx="3154680" cy="896112"/>
          </a:xfrm>
          <a:prstGeom prst="roundRect">
            <a:avLst>
              <a:gd name="adj" fmla="val 8163"/>
            </a:avLst>
          </a:prstGeom>
          <a:solidFill>
            <a:srgbClr val="EEF8F9"/>
          </a:solidFill>
          <a:ln w="12700">
            <a:solidFill>
              <a:srgbClr val="EEF8F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669280" y="231343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96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 restore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669280" y="2651760"/>
            <a:ext cx="2880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Upsert chosen collections or ids; newer live data kept unless overwrite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532120" y="3209544"/>
            <a:ext cx="3154680" cy="896112"/>
          </a:xfrm>
          <a:prstGeom prst="roundRect">
            <a:avLst>
              <a:gd name="adj" fmla="val 8163"/>
            </a:avLst>
          </a:prstGeom>
          <a:solidFill>
            <a:srgbClr val="EEF8F9"/>
          </a:solidFill>
          <a:ln w="12700">
            <a:solidFill>
              <a:srgbClr val="EEF8F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669280" y="3300984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96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rollback restore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669280" y="3639312"/>
            <a:ext cx="2880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Pre-restore snapshot first, tenant read-only, replace, recount, reopen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5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Retention: Standard 7 daily · 4 weekly · 3 monthly. Premium 14 · 8 · 12 + 6-hourly. RPO 24 h, RTO &lt; 1 h per client. Webhooks muted during restore.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14-week build with a gate at every phase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589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2 full-stack developers; each client moves after 14 days of matching counts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AM2PM Call Center CRM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572768"/>
            <a:ext cx="8229600" cy="0"/>
          </a:xfrm>
          <a:prstGeom prst="line">
            <a:avLst/>
          </a:prstGeom>
          <a:noFill/>
          <a:ln w="38100">
            <a:solidFill>
              <a:srgbClr val="6BD3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435608"/>
            <a:ext cx="274320" cy="274320"/>
          </a:xfrm>
          <a:prstGeom prst="ellipse">
            <a:avLst/>
          </a:prstGeom>
          <a:solidFill>
            <a:srgbClr val="F9613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170432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1965960" cy="2057400"/>
          </a:xfrm>
          <a:prstGeom prst="roundRect">
            <a:avLst>
              <a:gd name="adj" fmla="val 3721"/>
            </a:avLst>
          </a:prstGeom>
          <a:solidFill>
            <a:srgbClr val="EEF8F9"/>
          </a:solidFill>
          <a:ln w="12700">
            <a:solidFill>
              <a:srgbClr val="EEF8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8745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53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· Core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2212848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Leads, dispositions, callbacks, agent screen, imports, dedupe, 4 crmv7 methods, CallerDesk, nightly client backup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9319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5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Pilot process matches sheet for 14 days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06040" y="1435608"/>
            <a:ext cx="274320" cy="274320"/>
          </a:xfrm>
          <a:prstGeom prst="ellipse">
            <a:avLst/>
          </a:prstGeom>
          <a:solidFill>
            <a:srgbClr val="F9613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71800" y="1170432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7–10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60320" y="1783080"/>
            <a:ext cx="1965960" cy="2057400"/>
          </a:xfrm>
          <a:prstGeom prst="roundRect">
            <a:avLst>
              <a:gd name="adj" fmla="val 3721"/>
            </a:avLst>
          </a:prstGeom>
          <a:solidFill>
            <a:srgbClr val="EEF8F9"/>
          </a:solidFill>
          <a:ln w="12700">
            <a:solidFill>
              <a:srgbClr val="EEF8F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697480" y="18745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53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· Automation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697480" y="2212848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+ portal connectors, load/skill/sticky, recycle, outbound webhooks, workflows, Interakt/Brevo/Resend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2560320" y="39319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5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Signed lead.converted verified by a client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09160" y="1435608"/>
            <a:ext cx="274320" cy="274320"/>
          </a:xfrm>
          <a:prstGeom prst="ellipse">
            <a:avLst/>
          </a:prstGeom>
          <a:solidFill>
            <a:srgbClr val="F9613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074920" y="1170432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11–14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1783080"/>
            <a:ext cx="1965960" cy="2057400"/>
          </a:xfrm>
          <a:prstGeom prst="roundRect">
            <a:avLst>
              <a:gd name="adj" fmla="val 3721"/>
            </a:avLst>
          </a:prstGeom>
          <a:solidFill>
            <a:srgbClr val="EEF8F9"/>
          </a:solidFill>
          <a:ln w="12700">
            <a:solidFill>
              <a:srgbClr val="EEF8F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00600" y="18745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53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· Reporting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800600" y="2212848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Rollups, dashboards, client portal, audit viewer, admin Backups page, Atlas M10 + PITR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663440" y="39319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5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All clients off Sheets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812280" y="1435608"/>
            <a:ext cx="274320" cy="274320"/>
          </a:xfrm>
          <a:prstGeom prst="ellipse">
            <a:avLst/>
          </a:prstGeom>
          <a:solidFill>
            <a:srgbClr val="5A6A7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178040" y="1170432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15+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766560" y="1783080"/>
            <a:ext cx="1965960" cy="2057400"/>
          </a:xfrm>
          <a:prstGeom prst="roundRect">
            <a:avLst>
              <a:gd name="adj" fmla="val 3721"/>
            </a:avLst>
          </a:prstGeom>
          <a:solidFill>
            <a:srgbClr val="EEF8F9"/>
          </a:solidFill>
          <a:ln w="12700">
            <a:solidFill>
              <a:srgbClr val="EEF8F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903720" y="18745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53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 · Later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903720" y="2212848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LMS, attendance, shifts, reimbursements, invoicing, AI call QA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6766560" y="39319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5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—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needed before build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49377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or Neon Postgres (~$35/month more at 200 agents for Mongo)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and leads per day at launch and in 12 months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lead sources are live today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systems receive lead.converted, and what "converted" means per client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CallerDesk only, or MyOperator / Exotel fallback in v1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 and backup retention per client contract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in-house or with a contractor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760720" y="1188720"/>
            <a:ext cx="2926080" cy="3291840"/>
          </a:xfrm>
          <a:prstGeom prst="roundRect">
            <a:avLst>
              <a:gd name="adj" fmla="val 2500"/>
            </a:avLst>
          </a:prstGeom>
          <a:solidFill>
            <a:srgbClr val="15363D"/>
          </a:solidFill>
          <a:ln w="12700">
            <a:solidFill>
              <a:srgbClr val="6BD3D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0" y="1325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risk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0" y="1737360"/>
            <a:ext cx="2560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missed tenantId filter could leak one client’s data.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one repository layer, lint rule, and a cross-tenant test on every API route.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AM2PM Call Center CRM — Architecture &amp; MongoDB Design</dc:title>
  <dc:subject>PptxGenJS Presentation</dc:subject>
  <dc:creator>PptxGenJS</dc:creator>
  <cp:lastModifiedBy>PptxGenJS</cp:lastModifiedBy>
  <cp:revision>1</cp:revision>
  <dcterms:created xsi:type="dcterms:W3CDTF">2026-09-30T18:49:32Z</dcterms:created>
  <dcterms:modified xsi:type="dcterms:W3CDTF">2026-09-30T18:49:32Z</dcterms:modified>
</cp:coreProperties>
</file>